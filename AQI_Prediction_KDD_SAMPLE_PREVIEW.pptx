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64008"/>
          </a:xfrm>
          <a:prstGeom prst="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Next-Day Air Quality Index (AQI) Prediction for Indian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400" b="0">
                <a:solidFill>
                  <a:srgbClr val="9FD6D6"/>
                </a:solidFill>
                <a:latin typeface="Calibri"/>
              </a:rPr>
              <a:t>Using Machine Learning: A KDD-Based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Your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100584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C8D3DF"/>
                </a:solidFill>
                <a:latin typeface="Calibri"/>
              </a:rPr>
              <a:t>KDD Mini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37160"/>
            <a:ext cx="22860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/>
            <a:r>
              <a:rPr sz="1200" b="0">
                <a:solidFill>
                  <a:srgbClr val="9FD6D6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584"/>
                </a:solidFill>
                <a:latin typeface="Calibri"/>
              </a:rPr>
              <a:t>Your Name  |  Next-Day AQI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D1495B"/>
                </a:solidFill>
                <a:latin typeface="Calibri"/>
              </a:rPr>
              <a:t>SAMPLE DATA - NOT REAL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584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8"/>
                </a:solidFill>
                <a:latin typeface="Calibri"/>
              </a:rPr>
              <a:t>•  Air pollution in Indian cities harms public health; timely forecasts enable advisories and restrictions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8"/>
                </a:solidFill>
                <a:latin typeface="Calibri"/>
              </a:rPr>
              <a:t>•  Goal: use a city's current and recent pollutant readings to predict tomorrow's AQI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8"/>
                </a:solidFill>
                <a:latin typeface="Calibri"/>
              </a:rPr>
              <a:t>•  Regression: next-day AQI value   |   Classification: next-day AQI category (6 CPCB classes)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8"/>
                </a:solidFill>
                <a:latin typeface="Calibri"/>
              </a:rPr>
              <a:t>•  Apply every KDD stage to real, messy data and compare baseline vs advanced models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8"/>
                </a:solidFill>
                <a:latin typeface="Calibri"/>
              </a:rPr>
              <a:t>•  Identify which pollutants and features drive the forecast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KDD Process Followed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37160"/>
            <a:ext cx="22860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/>
            <a:r>
              <a:rPr sz="1200" b="0">
                <a:solidFill>
                  <a:srgbClr val="9FD6D6"/>
                </a:solidFill>
                <a:latin typeface="Calibri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584"/>
                </a:solidFill>
                <a:latin typeface="Calibri"/>
              </a:rPr>
              <a:t>Your Name  |  Next-Day AQI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D1495B"/>
                </a:solidFill>
                <a:latin typeface="Calibri"/>
              </a:rPr>
              <a:t>SAMPLE DATA - NOT REAL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584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1234440" cy="1280160"/>
          </a:xfrm>
          <a:prstGeom prst="round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Data Selection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84248" y="2468880"/>
            <a:ext cx="1234440" cy="128016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2468880"/>
            <a:ext cx="1234440" cy="1280160"/>
          </a:xfrm>
          <a:prstGeom prst="round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Pre- 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55464" y="2468880"/>
            <a:ext cx="1234440" cy="128016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2468880"/>
            <a:ext cx="1234440" cy="1280160"/>
          </a:xfrm>
          <a:prstGeom prst="round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Chrono. Split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80" y="2468880"/>
            <a:ext cx="1234440" cy="128016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Modelling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2288" y="2468880"/>
            <a:ext cx="1234440" cy="1280160"/>
          </a:xfrm>
          <a:prstGeom prst="round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97896" y="2468880"/>
            <a:ext cx="1234440" cy="128016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SHAP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109728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222B38"/>
                </a:solidFill>
                <a:latin typeface="Calibri"/>
              </a:rPr>
              <a:t>Models: Persistence, Linear, Ridge, Random Forest, XGBoost (regression) and Logistic, Random Forest, XGBoost (classification)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37160"/>
            <a:ext cx="22860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/>
            <a:r>
              <a:rPr sz="1200" b="0">
                <a:solidFill>
                  <a:srgbClr val="9FD6D6"/>
                </a:solidFill>
                <a:latin typeface="Calibri"/>
              </a:rPr>
              <a:t>KDD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584"/>
                </a:solidFill>
                <a:latin typeface="Calibri"/>
              </a:rPr>
              <a:t>Your Name  |  Next-Day AQI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D1495B"/>
                </a:solidFill>
                <a:latin typeface="Calibri"/>
              </a:rPr>
              <a:t>SAMPLE DATA - NOT REAL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584"/>
                </a:solidFill>
                <a:latin typeface="Calibr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2651760" cy="1371600"/>
          </a:xfrm>
          <a:prstGeom prst="rect">
            <a:avLst/>
          </a:prstGeom>
          <a:solidFill>
            <a:srgbClr val="EE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73152" cy="1371600"/>
          </a:xfrm>
          <a:prstGeom prst="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60020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F9E9E"/>
                </a:solidFill>
                <a:latin typeface="Calibri"/>
              </a:rPr>
              <a:t>12,054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304288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6B7584"/>
                </a:solidFill>
                <a:latin typeface="Calibri"/>
              </a:rPr>
              <a:t>daily city records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463040"/>
            <a:ext cx="2651760" cy="1371600"/>
          </a:xfrm>
          <a:prstGeom prst="rect">
            <a:avLst/>
          </a:prstGeom>
          <a:solidFill>
            <a:srgbClr val="EE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463040"/>
            <a:ext cx="73152" cy="1371600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60020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D1495B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304288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6B7584"/>
                </a:solidFill>
                <a:latin typeface="Calibri"/>
              </a:rPr>
              <a:t>Indian cities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2651760" cy="1371600"/>
          </a:xfrm>
          <a:prstGeom prst="rect">
            <a:avLst/>
          </a:prstGeom>
          <a:solidFill>
            <a:srgbClr val="EE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73152" cy="1371600"/>
          </a:xfrm>
          <a:prstGeom prst="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60020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F9E9E"/>
                </a:solidFill>
                <a:latin typeface="Calibri"/>
              </a:rPr>
              <a:t>2015–2020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04288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6B7584"/>
                </a:solidFill>
                <a:latin typeface="Calibri"/>
              </a:rPr>
              <a:t>date coverage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463040"/>
            <a:ext cx="2651760" cy="1371600"/>
          </a:xfrm>
          <a:prstGeom prst="rect">
            <a:avLst/>
          </a:prstGeom>
          <a:solidFill>
            <a:srgbClr val="EE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463040"/>
            <a:ext cx="73152" cy="1371600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60020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D1495B"/>
                </a:solidFill>
                <a:latin typeface="Calibri"/>
              </a:rPr>
              <a:t>1,209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304288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6B7584"/>
                </a:solidFill>
                <a:latin typeface="Calibri"/>
              </a:rPr>
              <a:t>rows with AQI missing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291840"/>
            <a:ext cx="109728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B38"/>
                </a:solidFill>
                <a:latin typeface="Calibri"/>
              </a:rPr>
              <a:t>•  Source: Kaggle – Air Quality Data in India (city_day.csv, CPCB stations)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B38"/>
                </a:solidFill>
                <a:latin typeface="Calibri"/>
              </a:rPr>
              <a:t>•  Features: PM2.5, PM10, NO, NO2, NOx, NH3, CO, SO2, O3, Benzene, Toluene, Xylene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B38"/>
                </a:solidFill>
                <a:latin typeface="Calibri"/>
              </a:rPr>
              <a:t>•  Targets: next-day AQI (regression) and next-day AQI bucket (classification)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B38"/>
                </a:solidFill>
                <a:latin typeface="Calibri"/>
              </a:rPr>
              <a:t>•  Rows without an observed AQI cannot serve as target and are excluded as such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EDA: Distribution &amp; City Differences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37160"/>
            <a:ext cx="22860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/>
            <a:r>
              <a:rPr sz="1200" b="0">
                <a:solidFill>
                  <a:srgbClr val="9FD6D6"/>
                </a:solidFill>
                <a:latin typeface="Calibri"/>
              </a:rPr>
              <a:t>KDD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584"/>
                </a:solidFill>
                <a:latin typeface="Calibri"/>
              </a:rPr>
              <a:t>Your Name  |  Next-Day AQI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D1495B"/>
                </a:solidFill>
                <a:latin typeface="Calibri"/>
              </a:rPr>
              <a:t>SAMPLE DATA - NOT REAL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584"/>
                </a:solidFill>
                <a:latin typeface="Calibri"/>
              </a:rPr>
              <a:t>5</a:t>
            </a:r>
          </a:p>
        </p:txBody>
      </p:sp>
      <p:pic>
        <p:nvPicPr>
          <p:cNvPr id="9" name="Picture 8" descr="eda_aqi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1449"/>
            <a:ext cx="4754880" cy="2657900"/>
          </a:xfrm>
          <a:prstGeom prst="rect">
            <a:avLst/>
          </a:prstGeom>
        </p:spPr>
      </p:pic>
      <p:pic>
        <p:nvPicPr>
          <p:cNvPr id="10" name="Picture 9" descr="eda_city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600167"/>
            <a:ext cx="6492239" cy="3200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394960"/>
            <a:ext cx="109728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222B38"/>
                </a:solidFill>
                <a:latin typeface="Calibri"/>
              </a:rPr>
              <a:t>AQI is right-skewed with a long tail of severe days; most polluted cities by median AQI: Delhi, Patna, Kolkata.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EDA: Missing Data, Seasonality &amp; Correlation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37160"/>
            <a:ext cx="22860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/>
            <a:r>
              <a:rPr sz="1200" b="0">
                <a:solidFill>
                  <a:srgbClr val="9FD6D6"/>
                </a:solidFill>
                <a:latin typeface="Calibri"/>
              </a:rPr>
              <a:t>KDD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584"/>
                </a:solidFill>
                <a:latin typeface="Calibri"/>
              </a:rPr>
              <a:t>Your Name  |  Next-Day AQI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D1495B"/>
                </a:solidFill>
                <a:latin typeface="Calibri"/>
              </a:rPr>
              <a:t>SAMPLE DATA - NOT REAL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584"/>
                </a:solidFill>
                <a:latin typeface="Calibri"/>
              </a:rPr>
              <a:t>6</a:t>
            </a:r>
          </a:p>
        </p:txBody>
      </p:sp>
      <p:pic>
        <p:nvPicPr>
          <p:cNvPr id="9" name="Picture 8" descr="eda_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0531"/>
            <a:ext cx="3931920" cy="2193897"/>
          </a:xfrm>
          <a:prstGeom prst="rect">
            <a:avLst/>
          </a:prstGeom>
        </p:spPr>
      </p:pic>
      <p:pic>
        <p:nvPicPr>
          <p:cNvPr id="10" name="Picture 9" descr="eda_month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597542"/>
            <a:ext cx="3931920" cy="2199875"/>
          </a:xfrm>
          <a:prstGeom prst="rect">
            <a:avLst/>
          </a:prstGeom>
        </p:spPr>
      </p:pic>
      <p:pic>
        <p:nvPicPr>
          <p:cNvPr id="11" name="Picture 10" descr="eda_cor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230333"/>
            <a:ext cx="3657599" cy="320861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4572000"/>
            <a:ext cx="109728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B38"/>
                </a:solidFill>
                <a:latin typeface="Calibri"/>
              </a:rPr>
              <a:t>•  Several pollutant columns have substantial gaps → imputation / column dropping needed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B38"/>
                </a:solidFill>
                <a:latin typeface="Calibri"/>
              </a:rPr>
              <a:t>•  Clear seasonal pattern: pollution rises in winter, falls in the monsoon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B38"/>
                </a:solidFill>
                <a:latin typeface="Calibri"/>
              </a:rPr>
              <a:t>•  Strongest correlates of AQI: PM25 (0.99), NO2 (0.99), PM10 (0.99)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37160"/>
            <a:ext cx="22860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/>
            <a:r>
              <a:rPr sz="1200" b="0">
                <a:solidFill>
                  <a:srgbClr val="9FD6D6"/>
                </a:solidFill>
                <a:latin typeface="Calibri"/>
              </a:rPr>
              <a:t>KDD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584"/>
                </a:solidFill>
                <a:latin typeface="Calibri"/>
              </a:rPr>
              <a:t>Your Name  |  Next-Day AQI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D1495B"/>
                </a:solidFill>
                <a:latin typeface="Calibri"/>
              </a:rPr>
              <a:t>SAMPLE DATA - NOT REAL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584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22B38"/>
                </a:solidFill>
                <a:latin typeface="Calibri"/>
              </a:rPr>
              <a:t>•  Columns with &gt; 50% missing dropped: Xylene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B38"/>
                </a:solidFill>
                <a:latin typeface="Calibri"/>
              </a:rPr>
              <a:t>•  Each city reindexed to a full daily calendar so 'previous / next day' is exact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B38"/>
                </a:solidFill>
                <a:latin typeface="Calibri"/>
              </a:rPr>
              <a:t>•  Gaps filled by forward-fill (max 3 days) – causal, never uses future values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B38"/>
                </a:solidFill>
                <a:latin typeface="Calibri"/>
              </a:rPr>
              <a:t>•  Remaining gaps imputed with TRAIN-set medians only (no leakage)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B38"/>
                </a:solidFill>
                <a:latin typeface="Calibri"/>
              </a:rPr>
              <a:t>•  Extreme outliers capped at the train 99.5th percentile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B38"/>
                </a:solidFill>
                <a:latin typeface="Calibri"/>
              </a:rPr>
              <a:t>•  Rows lacking an observed next-day AQI removed from modelling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37160"/>
            <a:ext cx="22860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/>
            <a:r>
              <a:rPr sz="1200" b="0">
                <a:solidFill>
                  <a:srgbClr val="9FD6D6"/>
                </a:solidFill>
                <a:latin typeface="Calibri"/>
              </a:rPr>
              <a:t>KDD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584"/>
                </a:solidFill>
                <a:latin typeface="Calibri"/>
              </a:rPr>
              <a:t>Your Name  |  Next-Day AQI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D1495B"/>
                </a:solidFill>
                <a:latin typeface="Calibri"/>
              </a:rPr>
              <a:t>SAMPLE DATA - NOT REAL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584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22B38"/>
                </a:solidFill>
                <a:latin typeface="Calibri"/>
              </a:rPr>
              <a:t>•  Lags (1, 2, 3, 7 days) of AQI, PM2.5, PM10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B38"/>
                </a:solidFill>
                <a:latin typeface="Calibri"/>
              </a:rPr>
              <a:t>•  Rolling mean (3 and 7 days) of AQI and PM2.5; rolling std and day-to-day change of AQI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B38"/>
                </a:solidFill>
                <a:latin typeface="Calibri"/>
              </a:rPr>
              <a:t>•  Calendar: month, day of week, sin/cos of day-of-year, winter flag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B38"/>
                </a:solidFill>
                <a:latin typeface="Calibri"/>
              </a:rPr>
              <a:t>•  City one-hot encoding to capture local baselines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B38"/>
                </a:solidFill>
                <a:latin typeface="Calibri"/>
              </a:rPr>
              <a:t>•  Total: 41 features on 10,802 modelling rows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B38"/>
                </a:solidFill>
                <a:latin typeface="Calibri"/>
              </a:rPr>
              <a:t>•  Target = AQI of the next day; category from CPCB bins (0–50, 51–100, 101–200, 201–300, 301–400, 400+)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Chronological Train / Validation / Test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37160"/>
            <a:ext cx="22860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/>
            <a:r>
              <a:rPr sz="1200" b="0">
                <a:solidFill>
                  <a:srgbClr val="9FD6D6"/>
                </a:solidFill>
                <a:latin typeface="Calibri"/>
              </a:rPr>
              <a:t>KDD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584"/>
                </a:solidFill>
                <a:latin typeface="Calibri"/>
              </a:rPr>
              <a:t>Your Name  |  Next-Day AQI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D1495B"/>
                </a:solidFill>
                <a:latin typeface="Calibri"/>
              </a:rPr>
              <a:t>SAMPLE DATA - NOT REAL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584"/>
                </a:solidFill>
                <a:latin typeface="Calibri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54480"/>
          <a:ext cx="7772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1371600"/>
              </a:tblGrid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Set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From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To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Rows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B38"/>
                          </a:solidFill>
                        </a:rPr>
                        <a:t>Train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B38"/>
                          </a:solidFill>
                        </a:rPr>
                        <a:t>2015-01-08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B38"/>
                          </a:solidFill>
                        </a:rPr>
                        <a:t>2018-11-07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B38"/>
                          </a:solidFill>
                        </a:rPr>
                        <a:t>7,559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B38"/>
                          </a:solidFill>
                        </a:rPr>
                        <a:t>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B38"/>
                          </a:solidFill>
                        </a:rPr>
                        <a:t>2018-11-08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B38"/>
                          </a:solidFill>
                        </a:rPr>
                        <a:t>2019-09-03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B38"/>
                          </a:solidFill>
                        </a:rPr>
                        <a:t>1,616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B38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B38"/>
                          </a:solidFill>
                        </a:rPr>
                        <a:t>2019-09-04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B38"/>
                          </a:solidFill>
                        </a:rPr>
                        <a:t>2020-06-30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B38"/>
                          </a:solidFill>
                        </a:rPr>
                        <a:t>1,627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566160"/>
            <a:ext cx="109728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B38"/>
                </a:solidFill>
                <a:latin typeface="Calibri"/>
              </a:rPr>
              <a:t>•  Split by date, never shuffled: the model only ever predicts the future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B38"/>
                </a:solidFill>
                <a:latin typeface="Calibri"/>
              </a:rPr>
              <a:t>•  Validation set used for XGBoost early stopping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B38"/>
                </a:solidFill>
                <a:latin typeface="Calibri"/>
              </a:rPr>
              <a:t>•  Test set touched once for final reporting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B38"/>
                </a:solidFill>
                <a:latin typeface="Calibri"/>
              </a:rPr>
              <a:t>•  The test window may include the 2020 COVID-19 lockdown, a distribution shift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Regression Results (Test Set)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37160"/>
            <a:ext cx="22860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/>
            <a:r>
              <a:rPr sz="1200" b="0">
                <a:solidFill>
                  <a:srgbClr val="9FD6D6"/>
                </a:solidFill>
                <a:latin typeface="Calibri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584"/>
                </a:solidFill>
                <a:latin typeface="Calibri"/>
              </a:rPr>
              <a:t>Your Name  |  Next-Day AQI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D1495B"/>
                </a:solidFill>
                <a:latin typeface="Calibri"/>
              </a:rPr>
              <a:t>SAMPLE DATA - NOT REAL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584"/>
                </a:solidFill>
                <a:latin typeface="Calibri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63040"/>
          <a:ext cx="65836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8872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</a:rPr>
                        <a:t>Persistence (AQI today)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</a:rPr>
                        <a:t>17.77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</a:rPr>
                        <a:t>22.31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</a:rPr>
                        <a:t>0.934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</a:rP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</a:rPr>
                        <a:t>13.16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</a:rPr>
                        <a:t>16.34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</a:rPr>
                        <a:t>0.964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22B38"/>
                          </a:solidFill>
                        </a:rPr>
                        <a:t>Ridge Regression</a:t>
                      </a:r>
                    </a:p>
                  </a:txBody>
                  <a:tcPr>
                    <a:solidFill>
                      <a:srgbClr val="D9F0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B38"/>
                          </a:solidFill>
                        </a:rPr>
                        <a:t>13.15</a:t>
                      </a:r>
                    </a:p>
                  </a:txBody>
                  <a:tcPr>
                    <a:solidFill>
                      <a:srgbClr val="D9F0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B38"/>
                          </a:solidFill>
                        </a:rPr>
                        <a:t>16.33</a:t>
                      </a:r>
                    </a:p>
                  </a:txBody>
                  <a:tcPr>
                    <a:solidFill>
                      <a:srgbClr val="D9F0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B38"/>
                          </a:solidFill>
                        </a:rPr>
                        <a:t>0.964</a:t>
                      </a:r>
                    </a:p>
                  </a:txBody>
                  <a:tcPr>
                    <a:solidFill>
                      <a:srgbClr val="D9F0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</a:rPr>
                        <a:t>13.53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</a:rPr>
                        <a:t>16.86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</a:rPr>
                        <a:t>0.962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</a:rPr>
                        <a:t>13.42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</a:rPr>
                        <a:t>16.71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</a:rPr>
                        <a:t>0.963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680960" y="1463040"/>
            <a:ext cx="3931920" cy="1371600"/>
          </a:xfrm>
          <a:prstGeom prst="rect">
            <a:avLst/>
          </a:prstGeom>
          <a:solidFill>
            <a:srgbClr val="EE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0" y="1463040"/>
            <a:ext cx="73152" cy="1371600"/>
          </a:xfrm>
          <a:prstGeom prst="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1600200"/>
            <a:ext cx="35661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F9E9E"/>
                </a:solidFill>
                <a:latin typeface="Calibri"/>
              </a:rPr>
              <a:t>Ridge 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2304288"/>
            <a:ext cx="35661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6B7584"/>
                </a:solidFill>
                <a:latin typeface="Calibri"/>
              </a:rPr>
              <a:t>best model by test RMSE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3063240"/>
            <a:ext cx="3931920" cy="1371600"/>
          </a:xfrm>
          <a:prstGeom prst="rect">
            <a:avLst/>
          </a:prstGeom>
          <a:solidFill>
            <a:srgbClr val="EE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3063240"/>
            <a:ext cx="73152" cy="1371600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3200400"/>
            <a:ext cx="35661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D1495B"/>
                </a:solidFill>
                <a:latin typeface="Calibri"/>
              </a:rPr>
              <a:t>26.8%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3904488"/>
            <a:ext cx="35661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6B7584"/>
                </a:solidFill>
                <a:latin typeface="Calibri"/>
              </a:rPr>
              <a:t>RMSE reduction vs persistence baseline</a:t>
            </a:r>
          </a:p>
        </p:txBody>
      </p:sp>
      <p:pic>
        <p:nvPicPr>
          <p:cNvPr id="18" name="Picture 17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85" y="3931920"/>
            <a:ext cx="6083788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Predicted vs Actual Next-Day AQI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37160"/>
            <a:ext cx="22860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/>
            <a:r>
              <a:rPr sz="1200" b="0">
                <a:solidFill>
                  <a:srgbClr val="9FD6D6"/>
                </a:solidFill>
                <a:latin typeface="Calibri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584"/>
                </a:solidFill>
                <a:latin typeface="Calibri"/>
              </a:rPr>
              <a:t>Your Name  |  Next-Day AQI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D1495B"/>
                </a:solidFill>
                <a:latin typeface="Calibri"/>
              </a:rPr>
              <a:t>SAMPLE DATA - NOT REAL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584"/>
                </a:solidFill>
                <a:latin typeface="Calibri"/>
              </a:rPr>
              <a:t>11</a:t>
            </a:r>
          </a:p>
        </p:txBody>
      </p:sp>
      <p:pic>
        <p:nvPicPr>
          <p:cNvPr id="9" name="Picture 8" descr="pred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53386"/>
            <a:ext cx="4389120" cy="3951226"/>
          </a:xfrm>
          <a:prstGeom prst="rect">
            <a:avLst/>
          </a:prstGeom>
        </p:spPr>
      </p:pic>
      <p:pic>
        <p:nvPicPr>
          <p:cNvPr id="10" name="Picture 9" descr="timeseries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72846"/>
            <a:ext cx="7040880" cy="29064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37760" y="4663440"/>
            <a:ext cx="685800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222B38"/>
                </a:solidFill>
                <a:latin typeface="Calibri"/>
              </a:rPr>
              <a:t>Ridge Regression: MAE 13.2, RMSE 16.3, R² 0.96. See the scatter (closer to the diagonal is better) and the test-period time series.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AQI Category Classification (Test Set)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37160"/>
            <a:ext cx="22860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/>
            <a:r>
              <a:rPr sz="1200" b="0">
                <a:solidFill>
                  <a:srgbClr val="9FD6D6"/>
                </a:solidFill>
                <a:latin typeface="Calibri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584"/>
                </a:solidFill>
                <a:latin typeface="Calibri"/>
              </a:rPr>
              <a:t>Your Name  |  Next-Day AQI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D1495B"/>
                </a:solidFill>
                <a:latin typeface="Calibri"/>
              </a:rPr>
              <a:t>SAMPLE DATA - NOT REAL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584"/>
                </a:solidFill>
                <a:latin typeface="Calibri"/>
              </a:rP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63040"/>
          <a:ext cx="69494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280160"/>
                <a:gridCol w="1280160"/>
                <a:gridCol w="12801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F1 macro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F1 weighted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8"/>
                          </a:solidFill>
                        </a:rPr>
                        <a:t>Persistence (category today)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</a:rPr>
                        <a:t>0.730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</a:rPr>
                        <a:t>0.738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</a:rPr>
                        <a:t>0.730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8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</a:rPr>
                        <a:t>0.793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</a:rPr>
                        <a:t>0.796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</a:rPr>
                        <a:t>0.793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8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</a:rPr>
                        <a:t>0.784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</a:rPr>
                        <a:t>0.783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</a:rPr>
                        <a:t>0.783</a:t>
                      </a:r>
                    </a:p>
                  </a:txBody>
                  <a:tcPr>
                    <a:solidFill>
                      <a:srgbClr val="EE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8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</a:rPr>
                        <a:t>0.786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</a:rPr>
                        <a:t>0.784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8"/>
                          </a:solidFill>
                        </a:rPr>
                        <a:t>0.786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</a:rPr>
                        <a:t>XGBoost regressor -&gt; binned</a:t>
                      </a:r>
                    </a:p>
                  </a:txBody>
                  <a:tcPr>
                    <a:solidFill>
                      <a:srgbClr val="D9F0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B38"/>
                          </a:solidFill>
                        </a:rPr>
                        <a:t>0.805</a:t>
                      </a:r>
                    </a:p>
                  </a:txBody>
                  <a:tcPr>
                    <a:solidFill>
                      <a:srgbClr val="D9F0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B38"/>
                          </a:solidFill>
                        </a:rPr>
                        <a:t>0.802</a:t>
                      </a:r>
                    </a:p>
                  </a:txBody>
                  <a:tcPr>
                    <a:solidFill>
                      <a:srgbClr val="D9F0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B38"/>
                          </a:solidFill>
                        </a:rPr>
                        <a:t>0.805</a:t>
                      </a:r>
                    </a:p>
                  </a:txBody>
                  <a:tcPr>
                    <a:solidFill>
                      <a:srgbClr val="D9F0EF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501" y="1280160"/>
            <a:ext cx="3889716" cy="3840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572000"/>
            <a:ext cx="685800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222B38"/>
                </a:solidFill>
                <a:latin typeface="Calibri"/>
              </a:rPr>
              <a:t>Best by macro-F1: XGBoost regressor -&gt; binned. Macro-F1 is used because classes are imbalanced; read the confusion matrix for which categories get confused.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Interpretation: What Drives the Forecast (SHAP)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37160"/>
            <a:ext cx="22860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/>
            <a:r>
              <a:rPr sz="1200" b="0">
                <a:solidFill>
                  <a:srgbClr val="9FD6D6"/>
                </a:solidFill>
                <a:latin typeface="Calibri"/>
              </a:rPr>
              <a:t>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584"/>
                </a:solidFill>
                <a:latin typeface="Calibri"/>
              </a:rPr>
              <a:t>Your Name  |  Next-Day AQI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D1495B"/>
                </a:solidFill>
                <a:latin typeface="Calibri"/>
              </a:rPr>
              <a:t>SAMPLE DATA - NOT REAL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584"/>
                </a:solidFill>
                <a:latin typeface="Calibri"/>
              </a:rPr>
              <a:t>13</a:t>
            </a:r>
          </a:p>
        </p:txBody>
      </p:sp>
      <p:pic>
        <p:nvPicPr>
          <p:cNvPr id="9" name="Picture 8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676" y="1234440"/>
            <a:ext cx="5169847" cy="502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23760" y="1463040"/>
            <a:ext cx="45720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8"/>
                </a:solidFill>
                <a:latin typeface="Calibri"/>
              </a:rPr>
              <a:t>•  Top drivers: PM10, PM25_roll3, NO2, NO, PM25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8"/>
                </a:solidFill>
                <a:latin typeface="Calibri"/>
              </a:rPr>
              <a:t>•  Pollutant readings outrank AQI history in importance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8"/>
                </a:solidFill>
                <a:latin typeface="Calibri"/>
              </a:rPr>
              <a:t>•  Particulate features (PM2.5, PM10) and rolling means: present in the top 10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8"/>
                </a:solidFill>
                <a:latin typeface="Calibri"/>
              </a:rPr>
              <a:t>•  Check calendar / city features in the SHAP plot for seasonal and local effects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Findings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37160"/>
            <a:ext cx="22860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/>
            <a:r>
              <a:rPr sz="1200" b="0">
                <a:solidFill>
                  <a:srgbClr val="9FD6D6"/>
                </a:solidFill>
                <a:latin typeface="Calibri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584"/>
                </a:solidFill>
                <a:latin typeface="Calibri"/>
              </a:rPr>
              <a:t>Your Name  |  Next-Day AQI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D1495B"/>
                </a:solidFill>
                <a:latin typeface="Calibri"/>
              </a:rPr>
              <a:t>SAMPLE DATA - NOT REAL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584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22B38"/>
                </a:solidFill>
                <a:latin typeface="Calibri"/>
              </a:rPr>
              <a:t>•  Ridge Regression gave the best regression result (RMSE 16.3, R² 0.96), 26.8% better than simply repeating today's AQI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B38"/>
                </a:solidFill>
                <a:latin typeface="Calibri"/>
              </a:rPr>
              <a:t>•  Best classifier: XGBoost regressor -&gt; binned (macro-F1 0.80)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B38"/>
                </a:solidFill>
                <a:latin typeface="Calibri"/>
              </a:rPr>
              <a:t>•  Most influential features (SHAP): PM10, PM25_roll3, NO2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B38"/>
                </a:solidFill>
                <a:latin typeface="Calibri"/>
              </a:rPr>
              <a:t>•  Limitations: no meteorological data (wind, temperature, humidity), many missing readings, uneven station coverage, COVID-19 shift in the test window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22B38"/>
                </a:solidFill>
                <a:latin typeface="Calibri"/>
              </a:rPr>
              <a:t>•  Rare 'Severe' days are hard to predict because of class imbalance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F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37160"/>
            <a:ext cx="22860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r"/>
            <a:r>
              <a:rPr sz="1200" b="0">
                <a:solidFill>
                  <a:srgbClr val="9FD6D6"/>
                </a:solidFill>
                <a:latin typeface="Calibri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0">
                <a:solidFill>
                  <a:srgbClr val="6B7584"/>
                </a:solidFill>
                <a:latin typeface="Calibri"/>
              </a:rPr>
              <a:t>Your Name  |  Next-Day AQI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D1495B"/>
                </a:solidFill>
                <a:latin typeface="Calibri"/>
              </a:rPr>
              <a:t>SAMPLE DATA - NOT REAL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000" b="0">
                <a:solidFill>
                  <a:srgbClr val="6B7584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8"/>
                </a:solidFill>
                <a:latin typeface="Calibri"/>
              </a:rPr>
              <a:t>•  A complete KDD pipeline turned messy CPCB data into a working next-day AQI forecaster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8"/>
                </a:solidFill>
                <a:latin typeface="Calibri"/>
              </a:rPr>
              <a:t>•  Ridge Regression performed best; the linear baselines remain strong because next-day AQI is highly autocorrelated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8"/>
                </a:solidFill>
                <a:latin typeface="Calibri"/>
              </a:rPr>
              <a:t>•  Chronological splitting and train-only preprocessing give an honest estimate of future performance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8"/>
                </a:solidFill>
                <a:latin typeface="Calibri"/>
              </a:rPr>
              <a:t>•  Future work: add weather and fire-count data, LSTM / temporal models, multi-day horizons, per-city models, and a live health-advisory dashboard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400" b="0">
                <a:solidFill>
                  <a:srgbClr val="9FD6D6"/>
                </a:solidFill>
                <a:latin typeface="Calibri"/>
              </a:rPr>
              <a:t>Your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C8D3DF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