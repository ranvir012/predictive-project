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64008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1463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Next-Day Air Quality Index (AQI) Prediction for Indian Cities</a:t>
            </a:r>
            <a:endParaRPr sz="40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400" b="0">
                <a:solidFill>
                  <a:srgbClr val="9FD6D6"/>
                </a:solidFill>
                <a:latin typeface="Calibri"/>
              </a:rPr>
              <a:t>Using Machine Learning: A KDD-Based Approach</a:t>
            </a:r>
            <a:endParaRPr sz="24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058400" cy="49149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lang="en-US" sz="2600" b="1">
                <a:solidFill>
                  <a:srgbClr val="FFFFFF"/>
                </a:solidFill>
                <a:latin typeface="Calibri"/>
              </a:rPr>
              <a:t>Ranvir Thakur</a:t>
            </a:r>
            <a:endParaRPr lang="en-US" sz="26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4251960"/>
            <a:ext cx="100584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0">
                <a:solidFill>
                  <a:srgbClr val="C8D3DF"/>
                </a:solidFill>
                <a:latin typeface="Calibri"/>
              </a:rPr>
              <a:t>KDD Mini Project</a:t>
            </a:r>
            <a:endParaRPr sz="1600" b="0">
              <a:solidFill>
                <a:srgbClr val="C8D3D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Statement &amp; Objectives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Introduction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2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8"/>
                </a:solidFill>
                <a:latin typeface="Calibri"/>
              </a:rPr>
              <a:t>•  Air pollution in Indian cities harms public health; timely forecasts enable advisories and restrictions</a:t>
            </a:r>
            <a:endParaRPr sz="20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8"/>
                </a:solidFill>
                <a:latin typeface="Calibri"/>
              </a:rPr>
              <a:t>•  Goal: use a city's current and recent pollutant readings to predict tomorrow's AQI</a:t>
            </a:r>
            <a:endParaRPr sz="20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8"/>
                </a:solidFill>
                <a:latin typeface="Calibri"/>
              </a:rPr>
              <a:t>•  Regression: next-day AQI value   |   Classification: next-day AQI category (6 CPCB classes)</a:t>
            </a:r>
            <a:endParaRPr sz="20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8"/>
                </a:solidFill>
                <a:latin typeface="Calibri"/>
              </a:rPr>
              <a:t>•  Apply every KDD stage to real, messy data and compare baseline vs advanced models</a:t>
            </a:r>
            <a:endParaRPr sz="20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8"/>
                </a:solidFill>
                <a:latin typeface="Calibri"/>
              </a:rPr>
              <a:t>•  Identify which pollutants and features drive the forecast</a:t>
            </a:r>
            <a:endParaRPr sz="200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KDD Process Followed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Methodology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3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1234440" cy="1280160"/>
          </a:xfrm>
          <a:prstGeom prst="round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Data Selection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984248" y="2468880"/>
            <a:ext cx="1234440" cy="128016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EDA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419856" y="2468880"/>
            <a:ext cx="1234440" cy="1280160"/>
          </a:xfrm>
          <a:prstGeom prst="round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Pre- processing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855464" y="2468880"/>
            <a:ext cx="1234440" cy="128016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Feature Engineering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91072" y="2468880"/>
            <a:ext cx="1234440" cy="1280160"/>
          </a:xfrm>
          <a:prstGeom prst="round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Chrono. Split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726680" y="2468880"/>
            <a:ext cx="1234440" cy="128016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Modelling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162288" y="2468880"/>
            <a:ext cx="1234440" cy="1280160"/>
          </a:xfrm>
          <a:prstGeom prst="round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Evaluation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0597896" y="2468880"/>
            <a:ext cx="1234440" cy="128016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SHAP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10972800" cy="9144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0">
                <a:solidFill>
                  <a:srgbClr val="222B38"/>
                </a:solidFill>
                <a:latin typeface="Calibri"/>
              </a:rPr>
              <a:t>Models: Persistence, Linear, Ridge, Random Forest, XGBoost (regression) and Logistic, Random Forest, XGBoost (classification)</a:t>
            </a:r>
            <a:endParaRPr sz="1800" b="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 Selection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KDD 1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4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2651760" cy="1371600"/>
          </a:xfrm>
          <a:prstGeom prst="rect">
            <a:avLst/>
          </a:prstGeom>
          <a:solidFill>
            <a:srgbClr val="EE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463040"/>
            <a:ext cx="73152" cy="1371600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600200"/>
            <a:ext cx="22860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200" b="1">
                <a:solidFill>
                  <a:srgbClr val="1F9E9E"/>
                </a:solidFill>
                <a:latin typeface="Calibri"/>
              </a:rPr>
              <a:t>12,054</a:t>
            </a:r>
            <a:endParaRPr sz="3200" b="1">
              <a:solidFill>
                <a:srgbClr val="1F9E9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59" y="2304288"/>
            <a:ext cx="22860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6B7584"/>
                </a:solidFill>
                <a:latin typeface="Calibri"/>
              </a:rPr>
              <a:t>daily city records</a:t>
            </a:r>
            <a:endParaRPr sz="13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383280" y="1463040"/>
            <a:ext cx="2651760" cy="1371600"/>
          </a:xfrm>
          <a:prstGeom prst="rect">
            <a:avLst/>
          </a:prstGeom>
          <a:solidFill>
            <a:srgbClr val="EE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463040"/>
            <a:ext cx="73152" cy="13716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600200"/>
            <a:ext cx="22860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200" b="1">
                <a:solidFill>
                  <a:srgbClr val="D1495B"/>
                </a:solidFill>
                <a:latin typeface="Calibri"/>
              </a:rPr>
              <a:t>6</a:t>
            </a:r>
            <a:endParaRPr sz="32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57600" y="2304288"/>
            <a:ext cx="22860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6B7584"/>
                </a:solidFill>
                <a:latin typeface="Calibri"/>
              </a:rPr>
              <a:t>Indian cities</a:t>
            </a:r>
            <a:endParaRPr sz="13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217920" y="1463040"/>
            <a:ext cx="2651760" cy="1371600"/>
          </a:xfrm>
          <a:prstGeom prst="rect">
            <a:avLst/>
          </a:prstGeom>
          <a:solidFill>
            <a:srgbClr val="EE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463040"/>
            <a:ext cx="73152" cy="1371600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600200"/>
            <a:ext cx="22860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200" b="1">
                <a:solidFill>
                  <a:srgbClr val="1F9E9E"/>
                </a:solidFill>
                <a:latin typeface="Calibri"/>
              </a:rPr>
              <a:t>2015–2020</a:t>
            </a:r>
            <a:endParaRPr sz="3200" b="1">
              <a:solidFill>
                <a:srgbClr val="1F9E9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92240" y="2304288"/>
            <a:ext cx="22860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6B7584"/>
                </a:solidFill>
                <a:latin typeface="Calibri"/>
              </a:rPr>
              <a:t>date coverage</a:t>
            </a:r>
            <a:endParaRPr sz="13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52560" y="1463040"/>
            <a:ext cx="2651760" cy="1371600"/>
          </a:xfrm>
          <a:prstGeom prst="rect">
            <a:avLst/>
          </a:prstGeom>
          <a:solidFill>
            <a:srgbClr val="EE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1463040"/>
            <a:ext cx="73152" cy="13716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00200"/>
            <a:ext cx="22860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200" b="1">
                <a:solidFill>
                  <a:srgbClr val="D1495B"/>
                </a:solidFill>
                <a:latin typeface="Calibri"/>
              </a:rPr>
              <a:t>1,209</a:t>
            </a:r>
            <a:endParaRPr sz="32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326880" y="2304288"/>
            <a:ext cx="22860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6B7584"/>
                </a:solidFill>
                <a:latin typeface="Calibri"/>
              </a:rPr>
              <a:t>rows with AQI missing</a:t>
            </a:r>
            <a:endParaRPr sz="13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B38"/>
                </a:solidFill>
                <a:latin typeface="Calibri"/>
              </a:rPr>
              <a:t>•  Source: Kaggle – Air Quality Data in India (city_day.csv, CPCB stations)</a:t>
            </a:r>
            <a:endParaRPr sz="18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B38"/>
                </a:solidFill>
                <a:latin typeface="Calibri"/>
              </a:rPr>
              <a:t>•  Features: PM2.5, PM10, NO, NO2, NOx, NH3, CO, SO2, O3, Benzene, Toluene, Xylene</a:t>
            </a:r>
            <a:endParaRPr sz="18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B38"/>
                </a:solidFill>
                <a:latin typeface="Calibri"/>
              </a:rPr>
              <a:t>•  Targets: next-day AQI (regression) and next-day AQI bucket (classification)</a:t>
            </a:r>
            <a:endParaRPr sz="18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B38"/>
                </a:solidFill>
                <a:latin typeface="Calibri"/>
              </a:rPr>
              <a:t>•  Rows without an observed AQI cannot serve as target and are excluded as such</a:t>
            </a:r>
            <a:endParaRPr sz="180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EDA: Distribution &amp; City Differences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KDD 2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5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pic>
        <p:nvPicPr>
          <p:cNvPr id="9" name="Picture 8" descr="eda_aqi_dis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71449"/>
            <a:ext cx="4754880" cy="2657900"/>
          </a:xfrm>
          <a:prstGeom prst="rect">
            <a:avLst/>
          </a:prstGeom>
        </p:spPr>
      </p:pic>
      <p:pic>
        <p:nvPicPr>
          <p:cNvPr id="10" name="Picture 9" descr="eda_city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00167"/>
            <a:ext cx="6492239" cy="3200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394960"/>
            <a:ext cx="1097280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0">
                <a:solidFill>
                  <a:srgbClr val="222B38"/>
                </a:solidFill>
                <a:latin typeface="Calibri"/>
              </a:rPr>
              <a:t>AQI is right-skewed with a long tail of severe days; most polluted cities by median AQI: Delhi, Patna, Kolkata.</a:t>
            </a:r>
            <a:endParaRPr sz="1600" b="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EDA: Missing Data, Seasonality &amp; Correlation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KDD 2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6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pic>
        <p:nvPicPr>
          <p:cNvPr id="9" name="Picture 8" descr="eda_missin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00531"/>
            <a:ext cx="3931920" cy="2193897"/>
          </a:xfrm>
          <a:prstGeom prst="rect">
            <a:avLst/>
          </a:prstGeom>
        </p:spPr>
      </p:pic>
      <p:pic>
        <p:nvPicPr>
          <p:cNvPr id="10" name="Picture 9" descr="eda_month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597542"/>
            <a:ext cx="3931920" cy="2199875"/>
          </a:xfrm>
          <a:prstGeom prst="rect">
            <a:avLst/>
          </a:prstGeom>
        </p:spPr>
      </p:pic>
      <p:pic>
        <p:nvPicPr>
          <p:cNvPr id="11" name="Picture 10" descr="eda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230333"/>
            <a:ext cx="3657599" cy="32086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572000"/>
            <a:ext cx="109728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22B38"/>
                </a:solidFill>
                <a:latin typeface="Calibri"/>
              </a:rPr>
              <a:t>•  Several pollutant columns have substantial gaps → imputation / column dropping needed</a:t>
            </a:r>
            <a:endParaRPr sz="16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B38"/>
                </a:solidFill>
                <a:latin typeface="Calibri"/>
              </a:rPr>
              <a:t>•  Clear seasonal pattern: pollution rises in winter, falls in the monsoon</a:t>
            </a:r>
            <a:endParaRPr sz="16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22B38"/>
                </a:solidFill>
                <a:latin typeface="Calibri"/>
              </a:rPr>
              <a:t>•  Strongest correlates of AQI: PM25 (0.99), NO2 (0.99), PM10 (0.99)</a:t>
            </a:r>
            <a:endParaRPr sz="160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Preprocessing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KDD 3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7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Columns with &gt; 50% missing dropped: Xylene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Each city reindexed to a full daily calendar so 'previous / next day' is exact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Gaps filled by forward-fill (max 3 days) – causal, never uses future values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Remaining gaps imputed with TRAIN-set medians only (no leakage)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Extreme outliers capped at the train 99.5th percentile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Rows lacking an observed next-day AQI removed from modelling</a:t>
            </a:r>
            <a:endParaRPr sz="190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Feature Engineering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KDD 4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8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Lags (1, 2, 3, 7 days) of AQI, PM2.5, PM10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Rolling mean (3 and 7 days) of AQI and PM2.5; rolling std and day-to-day change of AQI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Calendar: month, day of week, sin/cos of day-of-year, winter flag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City one-hot encoding to capture local baselines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Total: 41 features on 10,802 modelling rows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Target = AQI of the next day; category from CPCB bins (0–50, 51–100, 101–200, 201–300, 301–400, 400+)</a:t>
            </a:r>
            <a:endParaRPr sz="190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Chronological Train / Validation / Test Split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KDD 5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9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554480"/>
          <a:ext cx="7772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Set</a:t>
                      </a:r>
                      <a:endParaRPr sz="16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From</a:t>
                      </a:r>
                      <a:endParaRPr sz="16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</a:t>
                      </a:r>
                      <a:endParaRPr sz="16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Rows</a:t>
                      </a:r>
                      <a:endParaRPr sz="16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B38"/>
                          </a:solidFill>
                        </a:rPr>
                        <a:t>Train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B38"/>
                          </a:solidFill>
                        </a:rPr>
                        <a:t>2015-01-08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B38"/>
                          </a:solidFill>
                        </a:rPr>
                        <a:t>2018-11-07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B38"/>
                          </a:solidFill>
                        </a:rPr>
                        <a:t>7,559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B38"/>
                          </a:solidFill>
                        </a:rPr>
                        <a:t>Val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B38"/>
                          </a:solidFill>
                        </a:rPr>
                        <a:t>2018-11-08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B38"/>
                          </a:solidFill>
                        </a:rPr>
                        <a:t>2019-09-03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B38"/>
                          </a:solidFill>
                        </a:rPr>
                        <a:t>1,616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B38"/>
                          </a:solidFill>
                        </a:rPr>
                        <a:t>Test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B38"/>
                          </a:solidFill>
                        </a:rPr>
                        <a:t>2019-09-04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B38"/>
                          </a:solidFill>
                        </a:rPr>
                        <a:t>2020-06-30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B38"/>
                          </a:solidFill>
                        </a:rPr>
                        <a:t>1,627</a:t>
                      </a:r>
                      <a:endParaRPr sz="16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B38"/>
                </a:solidFill>
                <a:latin typeface="Calibri"/>
              </a:rPr>
              <a:t>•  Split by date, never shuffled: the model only ever predicts the future</a:t>
            </a:r>
            <a:endParaRPr sz="18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B38"/>
                </a:solidFill>
                <a:latin typeface="Calibri"/>
              </a:rPr>
              <a:t>•  Validation set used for XGBoost early stopping</a:t>
            </a:r>
            <a:endParaRPr sz="18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B38"/>
                </a:solidFill>
                <a:latin typeface="Calibri"/>
              </a:rPr>
              <a:t>•  Test set touched once for final reporting</a:t>
            </a:r>
            <a:endParaRPr sz="18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B38"/>
                </a:solidFill>
                <a:latin typeface="Calibri"/>
              </a:rPr>
              <a:t>•  The test window may include the 2020 COVID-19 lockdown, a distribution shift</a:t>
            </a:r>
            <a:endParaRPr sz="180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Regression Results (Test Set)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Evaluation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10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6583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  <a:endParaRPr sz="15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MAE</a:t>
                      </a:r>
                      <a:endParaRPr sz="15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RMSE</a:t>
                      </a:r>
                      <a:endParaRPr sz="15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R²</a:t>
                      </a:r>
                      <a:endParaRPr sz="15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B38"/>
                          </a:solidFill>
                        </a:rPr>
                        <a:t>Persistence (AQI today)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17.77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22.31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0.934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B38"/>
                          </a:solidFill>
                        </a:rPr>
                        <a:t>Linear Regression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13.16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16.34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0.964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22B38"/>
                          </a:solidFill>
                        </a:rPr>
                        <a:t>Ridge Regression</a:t>
                      </a:r>
                      <a:endParaRPr sz="1500" b="1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D9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B38"/>
                          </a:solidFill>
                        </a:rPr>
                        <a:t>13.15</a:t>
                      </a:r>
                      <a:endParaRPr sz="1500" b="1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D9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B38"/>
                          </a:solidFill>
                        </a:rPr>
                        <a:t>16.33</a:t>
                      </a:r>
                      <a:endParaRPr sz="1500" b="1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D9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B38"/>
                          </a:solidFill>
                        </a:rPr>
                        <a:t>0.964</a:t>
                      </a:r>
                      <a:endParaRPr sz="1500" b="1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D9F0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B38"/>
                          </a:solidFill>
                        </a:rPr>
                        <a:t>Random Forest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13.53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16.86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0.962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B38"/>
                          </a:solidFill>
                        </a:rPr>
                        <a:t>XGBoost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13.42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16.71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B38"/>
                          </a:solidFill>
                        </a:rPr>
                        <a:t>0.963</a:t>
                      </a:r>
                      <a:endParaRPr sz="15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680960" y="1463040"/>
            <a:ext cx="3931920" cy="1371600"/>
          </a:xfrm>
          <a:prstGeom prst="rect">
            <a:avLst/>
          </a:prstGeom>
          <a:solidFill>
            <a:srgbClr val="EE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0" y="1463040"/>
            <a:ext cx="73152" cy="1371600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1600200"/>
            <a:ext cx="356616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200" b="1">
                <a:solidFill>
                  <a:srgbClr val="1F9E9E"/>
                </a:solidFill>
                <a:latin typeface="Calibri"/>
              </a:rPr>
              <a:t>Ridge Regression</a:t>
            </a:r>
            <a:endParaRPr sz="3200" b="1">
              <a:solidFill>
                <a:srgbClr val="1F9E9E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955280" y="2304288"/>
            <a:ext cx="356616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6B7584"/>
                </a:solidFill>
                <a:latin typeface="Calibri"/>
              </a:rPr>
              <a:t>best model by test RMSE</a:t>
            </a:r>
            <a:endParaRPr sz="13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80960" y="3063240"/>
            <a:ext cx="3931920" cy="1371600"/>
          </a:xfrm>
          <a:prstGeom prst="rect">
            <a:avLst/>
          </a:prstGeom>
          <a:solidFill>
            <a:srgbClr val="EE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3063240"/>
            <a:ext cx="73152" cy="1371600"/>
          </a:xfrm>
          <a:prstGeom prst="rect">
            <a:avLst/>
          </a:prstGeom>
          <a:solidFill>
            <a:srgbClr val="D14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3200400"/>
            <a:ext cx="356616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200" b="1">
                <a:solidFill>
                  <a:srgbClr val="D1495B"/>
                </a:solidFill>
                <a:latin typeface="Calibri"/>
              </a:rPr>
              <a:t>26.8%</a:t>
            </a:r>
            <a:endParaRPr sz="32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55280" y="3904488"/>
            <a:ext cx="356616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6B7584"/>
                </a:solidFill>
                <a:latin typeface="Calibri"/>
              </a:rPr>
              <a:t>RMSE reduction vs persistence baseline</a:t>
            </a:r>
            <a:endParaRPr sz="1300" b="0">
              <a:solidFill>
                <a:srgbClr val="6B7584"/>
              </a:solidFill>
              <a:latin typeface="Calibri"/>
            </a:endParaRPr>
          </a:p>
        </p:txBody>
      </p:sp>
      <p:pic>
        <p:nvPicPr>
          <p:cNvPr id="18" name="Picture 17" descr="model_comparis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85" y="3931920"/>
            <a:ext cx="6083788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Predicted vs Actual Next-Day AQI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Evaluation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11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pic>
        <p:nvPicPr>
          <p:cNvPr id="9" name="Picture 8" descr="pred_vs_actu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53386"/>
            <a:ext cx="4389120" cy="3951226"/>
          </a:xfrm>
          <a:prstGeom prst="rect">
            <a:avLst/>
          </a:prstGeom>
        </p:spPr>
      </p:pic>
      <p:pic>
        <p:nvPicPr>
          <p:cNvPr id="10" name="Picture 9" descr="timeserie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72846"/>
            <a:ext cx="7040880" cy="290646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4663440"/>
            <a:ext cx="6858000" cy="12801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0">
                <a:solidFill>
                  <a:srgbClr val="222B38"/>
                </a:solidFill>
                <a:latin typeface="Calibri"/>
              </a:rPr>
              <a:t>Ridge Regression: MAE 13.2, RMSE 16.3, R² 0.96. See the scatter (closer to the diagonal is better) and the test-period time series.</a:t>
            </a:r>
            <a:endParaRPr sz="1600" b="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AQI Category Classification (Test Set)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Evaluation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12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69494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28016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  <a:endParaRPr sz="13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sz="13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F1 macro</a:t>
                      </a:r>
                      <a:endParaRPr sz="13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F1 weighted</a:t>
                      </a:r>
                      <a:endParaRPr sz="13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B38"/>
                          </a:solidFill>
                        </a:rPr>
                        <a:t>Persistence (category today)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0.730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0.738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0.730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B38"/>
                          </a:solidFill>
                        </a:rPr>
                        <a:t>Logistic Regression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0.793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0.796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0.793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B38"/>
                          </a:solidFill>
                        </a:rPr>
                        <a:t>Random Forest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0.784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0.783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0.783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EE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B38"/>
                          </a:solidFill>
                        </a:rPr>
                        <a:t>XGBoost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0.786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0.784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8"/>
                          </a:solidFill>
                        </a:rPr>
                        <a:t>0.786</a:t>
                      </a:r>
                      <a:endParaRPr sz="1300" b="0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B38"/>
                          </a:solidFill>
                        </a:rPr>
                        <a:t>XGBoost regressor -&gt; binned</a:t>
                      </a:r>
                      <a:endParaRPr sz="1300" b="1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D9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B38"/>
                          </a:solidFill>
                        </a:rPr>
                        <a:t>0.805</a:t>
                      </a:r>
                      <a:endParaRPr sz="1300" b="1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D9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B38"/>
                          </a:solidFill>
                        </a:rPr>
                        <a:t>0.802</a:t>
                      </a:r>
                      <a:endParaRPr sz="1300" b="1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D9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B38"/>
                          </a:solidFill>
                        </a:rPr>
                        <a:t>0.805</a:t>
                      </a:r>
                      <a:endParaRPr sz="1300" b="1">
                        <a:solidFill>
                          <a:srgbClr val="222B38"/>
                        </a:solidFill>
                      </a:endParaRPr>
                    </a:p>
                  </a:txBody>
                  <a:tcPr>
                    <a:solidFill>
                      <a:srgbClr val="D9F0EF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onfusion_matri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3501" y="1280160"/>
            <a:ext cx="3889716" cy="384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72000"/>
            <a:ext cx="6858000" cy="1371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0">
                <a:solidFill>
                  <a:srgbClr val="222B38"/>
                </a:solidFill>
                <a:latin typeface="Calibri"/>
              </a:rPr>
              <a:t>Best by macro-F1: XGBoost regressor -&gt; binned. Macro-F1 is used because classes are imbalanced; read the confusion matrix for which categories get confused.</a:t>
            </a:r>
            <a:endParaRPr sz="1600" b="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Interpretation: What Drives the Forecast (SHAP)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Interpretation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13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pic>
        <p:nvPicPr>
          <p:cNvPr id="9" name="Picture 8" descr="shap_summa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676" y="1234440"/>
            <a:ext cx="5169847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0" y="1463040"/>
            <a:ext cx="45720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8"/>
                </a:solidFill>
                <a:latin typeface="Calibri"/>
              </a:rPr>
              <a:t>•  Top drivers: PM10, PM25_roll3, NO2, NO, PM25</a:t>
            </a:r>
            <a:endParaRPr sz="17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8"/>
                </a:solidFill>
                <a:latin typeface="Calibri"/>
              </a:rPr>
              <a:t>•  Pollutant readings outrank AQI history in importance</a:t>
            </a:r>
            <a:endParaRPr sz="17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8"/>
                </a:solidFill>
                <a:latin typeface="Calibri"/>
              </a:rPr>
              <a:t>•  Particulate features (PM2.5, PM10) and rolling means: present in the top 10</a:t>
            </a:r>
            <a:endParaRPr sz="17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8"/>
                </a:solidFill>
                <a:latin typeface="Calibri"/>
              </a:rPr>
              <a:t>•  Check calendar / city features in the SHAP plot for seasonal and local effects</a:t>
            </a:r>
            <a:endParaRPr sz="170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Findings &amp; Limitations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Discussion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14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Ridge Regression gave the best regression result (RMSE 16.3, R² 0.96), 26.8% better than simply repeating today's AQI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Best classifier: XGBoost regressor -&gt; binned (macro-F1 0.80)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Most influential features (SHAP): PM10, PM25_roll3, NO2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Limitations: no meteorological data (wind, temperature, humidity), many missing readings, uneven station coverage, COVID-19 shift in the test window</a:t>
            </a:r>
            <a:endParaRPr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B38"/>
                </a:solidFill>
                <a:latin typeface="Calibri"/>
              </a:rPr>
              <a:t>•  Rare 'Severe' days are hard to predict because of class imbalance</a:t>
            </a:r>
            <a:endParaRPr sz="190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F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0584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Conclusion &amp; Future Work</a:t>
            </a:r>
            <a:endParaRPr sz="28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418320" y="137160"/>
            <a:ext cx="2286000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1200" b="0">
                <a:solidFill>
                  <a:srgbClr val="9FD6D6"/>
                </a:solidFill>
                <a:latin typeface="Calibri"/>
              </a:rPr>
              <a:t>Wrap-up</a:t>
            </a:r>
            <a:endParaRPr sz="1200" b="0">
              <a:solidFill>
                <a:srgbClr val="9FD6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6B7584"/>
                </a:solidFill>
                <a:latin typeface="Calibri"/>
              </a:rPr>
              <a:t>Your Name  |  Next-Day AQI Prediction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6446520"/>
            <a:ext cx="36576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D1495B"/>
                </a:solidFill>
                <a:latin typeface="Calibri"/>
              </a:rPr>
              <a:t>SAMPLE DATA - NOT REAL RESULTS</a:t>
            </a:r>
            <a:endParaRPr sz="1100" b="1">
              <a:solidFill>
                <a:srgbClr val="D1495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1000" b="0">
                <a:solidFill>
                  <a:srgbClr val="6B7584"/>
                </a:solidFill>
                <a:latin typeface="Calibri"/>
              </a:rPr>
              <a:t>15</a:t>
            </a:r>
            <a:endParaRPr sz="1000" b="0">
              <a:solidFill>
                <a:srgbClr val="6B7584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8"/>
                </a:solidFill>
                <a:latin typeface="Calibri"/>
              </a:rPr>
              <a:t>•  A complete KDD pipeline turned messy CPCB data into a working next-day AQI forecaster</a:t>
            </a:r>
            <a:endParaRPr sz="20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8"/>
                </a:solidFill>
                <a:latin typeface="Calibri"/>
              </a:rPr>
              <a:t>•  Ridge Regression performed best; the linear baselines remain strong because next-day AQI is highly autocorrelated</a:t>
            </a:r>
            <a:endParaRPr sz="20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8"/>
                </a:solidFill>
                <a:latin typeface="Calibri"/>
              </a:rPr>
              <a:t>•  Chronological splitting and train-only preprocessing give an honest estimate of future performance</a:t>
            </a:r>
            <a:endParaRPr sz="20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8"/>
                </a:solidFill>
                <a:latin typeface="Calibri"/>
              </a:rPr>
              <a:t>•  Future work: add weather and fire-count data, LSTM / temporal models, multi-day horizons, per-city models, and a live health-advisory dashboard</a:t>
            </a:r>
            <a:endParaRPr sz="2000">
              <a:solidFill>
                <a:srgbClr val="222B38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6050</Words>
  <Application>WPS Presentation</Application>
  <PresentationFormat>On-screen Show (4:3)</PresentationFormat>
  <Paragraphs>374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Arial</vt:lpstr>
      <vt:lpstr>SimSun</vt:lpstr>
      <vt:lpstr>Wingdings</vt:lpstr>
      <vt:lpstr>Arial</vt:lpstr>
      <vt:lpstr>Calibri</vt:lpstr>
      <vt:lpstr>Helvetica Neue</vt:lpstr>
      <vt:lpstr>Microsoft YaHei</vt:lpstr>
      <vt:lpstr>汉仪旗黑</vt:lpstr>
      <vt:lpstr>Arial Unicode MS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Ranvir Thakur</cp:lastModifiedBy>
  <cp:revision>2</cp:revision>
  <dcterms:created xsi:type="dcterms:W3CDTF">2026-10-22T17:06:34Z</dcterms:created>
  <dcterms:modified xsi:type="dcterms:W3CDTF">2026-10-22T17:06:34Z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1033-12.1.28496.28496</vt:lpwstr>
  </property>
  <property fmtid="{D5CDD505-2E9C-101B-9397-08002B2CF9AE}" pid="3" name="ICV">
    <vt:lpwstr>7A991846DF6A2CC89A42DA6A70B18063_42</vt:lpwstr>
  </property>
</Properties>
</file>